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9a73a33254713" /><Relationship Type="http://schemas.openxmlformats.org/officeDocument/2006/relationships/extended-properties" Target="/docProps/app.xml" Id="Rccc0db612055408d" /><Relationship Type="http://schemas.openxmlformats.org/officeDocument/2006/relationships/officeDocument" Target="/ppt/presentation.xml" Id="Rae8984eebc45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1e98bf13b4572"/>
  </p:sldMasterIdLst>
  <p:notesMasterIdLst>
    <p:notesMasterId xmlns:r="http://schemas.openxmlformats.org/officeDocument/2006/relationships" r:id="R9e415cb860f646c0"/>
  </p:notesMasterIdLst>
  <p:sldIdLst>
    <p:sldId xmlns:r="http://schemas.openxmlformats.org/officeDocument/2006/relationships" id="256" r:id="Rdc27a5acdd584ccb"/>
    <p:sldId xmlns:r="http://schemas.openxmlformats.org/officeDocument/2006/relationships" id="257" r:id="R7a4cb5edfefc4940"/>
    <p:sldId xmlns:r="http://schemas.openxmlformats.org/officeDocument/2006/relationships" id="258" r:id="R355a0c41a6664037"/>
    <p:sldId xmlns:r="http://schemas.openxmlformats.org/officeDocument/2006/relationships" id="259" r:id="Ra1ddf92328d44a2d"/>
    <p:sldId xmlns:r="http://schemas.openxmlformats.org/officeDocument/2006/relationships" id="260" r:id="R67f6d50777264bdf"/>
    <p:sldId xmlns:r="http://schemas.openxmlformats.org/officeDocument/2006/relationships" id="261" r:id="Rfb6dd2fb31354206"/>
    <p:sldId xmlns:r="http://schemas.openxmlformats.org/officeDocument/2006/relationships" id="262" r:id="Rd7e50ee261cc451b"/>
    <p:sldId xmlns:r="http://schemas.openxmlformats.org/officeDocument/2006/relationships" id="263" r:id="R385d11d5eddd421e"/>
    <p:sldId xmlns:r="http://schemas.openxmlformats.org/officeDocument/2006/relationships" id="264" r:id="R826c5a096ad84991"/>
    <p:sldId xmlns:r="http://schemas.openxmlformats.org/officeDocument/2006/relationships" id="265" r:id="R62d240378b4c49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a7f14043a4a8e" /><Relationship Type="http://schemas.openxmlformats.org/officeDocument/2006/relationships/slideMaster" Target="/ppt/slideMasters/slideMaster1.xml" Id="R6bf1e98bf13b4572" /><Relationship Type="http://schemas.openxmlformats.org/officeDocument/2006/relationships/notesMaster" Target="/ppt/notesMasters/notesMaster1.xml" Id="R9e415cb860f646c0" /><Relationship Type="http://schemas.openxmlformats.org/officeDocument/2006/relationships/presProps" Target="/ppt/presProps.xml" Id="R9069394050444277" /><Relationship Type="http://schemas.openxmlformats.org/officeDocument/2006/relationships/tableStyles" Target="/ppt/tableStyles.xml" Id="R3ad133b30955415c" /><Relationship Type="http://schemas.openxmlformats.org/officeDocument/2006/relationships/slide" Target="/ppt/slides/slide1.xml" Id="Rdc27a5acdd584ccb" /><Relationship Type="http://schemas.openxmlformats.org/officeDocument/2006/relationships/slide" Target="/ppt/slides/slide2.xml" Id="R7a4cb5edfefc4940" /><Relationship Type="http://schemas.openxmlformats.org/officeDocument/2006/relationships/slide" Target="/ppt/slides/slide3.xml" Id="R355a0c41a6664037" /><Relationship Type="http://schemas.openxmlformats.org/officeDocument/2006/relationships/slide" Target="/ppt/slides/slide4.xml" Id="Ra1ddf92328d44a2d" /><Relationship Type="http://schemas.openxmlformats.org/officeDocument/2006/relationships/slide" Target="/ppt/slides/slide5.xml" Id="R67f6d50777264bdf" /><Relationship Type="http://schemas.openxmlformats.org/officeDocument/2006/relationships/slide" Target="/ppt/slides/slide6.xml" Id="Rfb6dd2fb31354206" /><Relationship Type="http://schemas.openxmlformats.org/officeDocument/2006/relationships/slide" Target="/ppt/slides/slide7.xml" Id="Rd7e50ee261cc451b" /><Relationship Type="http://schemas.openxmlformats.org/officeDocument/2006/relationships/slide" Target="/ppt/slides/slide8.xml" Id="R385d11d5eddd421e" /><Relationship Type="http://schemas.openxmlformats.org/officeDocument/2006/relationships/slide" Target="/ppt/slides/slide9.xml" Id="R826c5a096ad84991" /><Relationship Type="http://schemas.openxmlformats.org/officeDocument/2006/relationships/slide" Target="/ppt/slides/slide10.xml" Id="R62d240378b4c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d3c06edfb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2fa6b3628843b8" /><Relationship Type="http://schemas.openxmlformats.org/officeDocument/2006/relationships/notesMaster" Target="/ppt/notesMasters/notesMaster1.xml" Id="Rc5204d933381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a5294c2164860" /><Relationship Type="http://schemas.openxmlformats.org/officeDocument/2006/relationships/notesMaster" Target="/ppt/notesMasters/notesMaster1.xml" Id="R14863de18f9840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bb5ade0d94b1e" /><Relationship Type="http://schemas.openxmlformats.org/officeDocument/2006/relationships/notesMaster" Target="/ppt/notesMasters/notesMaster1.xml" Id="Re353a93ca900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73e1066ee4de7" /><Relationship Type="http://schemas.openxmlformats.org/officeDocument/2006/relationships/notesMaster" Target="/ppt/notesMasters/notesMaster1.xml" Id="R56c15af1437f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53193559c467e" /><Relationship Type="http://schemas.openxmlformats.org/officeDocument/2006/relationships/notesMaster" Target="/ppt/notesMasters/notesMaster1.xml" Id="Raf3e28a9d2ea4e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9f30ca0287472b" /><Relationship Type="http://schemas.openxmlformats.org/officeDocument/2006/relationships/notesMaster" Target="/ppt/notesMasters/notesMaster1.xml" Id="R02c851926435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a06570edc42cb" /><Relationship Type="http://schemas.openxmlformats.org/officeDocument/2006/relationships/notesMaster" Target="/ppt/notesMasters/notesMaster1.xml" Id="Rbcac76b2d87a47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867391ea1409e" /><Relationship Type="http://schemas.openxmlformats.org/officeDocument/2006/relationships/notesMaster" Target="/ppt/notesMasters/notesMaster1.xml" Id="Rc967ab0b5f524e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7fac2ccd346ab" /><Relationship Type="http://schemas.openxmlformats.org/officeDocument/2006/relationships/notesMaster" Target="/ppt/notesMasters/notesMaster1.xml" Id="R2cbe052133cc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c69d5b816846fd" /><Relationship Type="http://schemas.openxmlformats.org/officeDocument/2006/relationships/notesMaster" Target="/ppt/notesMasters/notesMaster1.xml" Id="Ra6aa78266702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objetivo: gerar três casos de teste em JSON a partir de um requisito curto, em português.</a:t>
            </a:r>
          </a:p>
          <a:p xmlns:a="http://schemas.openxmlformats.org/drawingml/2006/main">
            <a:r>
              <a:t>O experimento foi executado localmente em uma GPU AMD.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foco é validação de formulários, uma tarefa limitada e verificável.</a:t>
            </a:r>
          </a:p>
          <a:p xmlns:a="http://schemas.openxmlformats.org/drawingml/2006/main">
            <a:r>
              <a:t>O arquivo de saída real usa a chave casos, com três objetos contendo titulo, entrada e resultado_esperado.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</a:t>
            </a:r>
          </a:p>
          <a:p xmlns:a="http://schemas.openxmlformats.org/drawingml/2006/main">
            <a:r>
              <a:t>Fonte: data/test.jsonl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escolha do 1,5B foi feita pelo equilíbrio prático para esta GPU, licença Apache 2.0 e tarefa em português.</a:t>
            </a:r>
          </a:p>
          <a:p xmlns:a="http://schemas.openxmlformats.org/drawingml/2006/main">
            <a:r>
              <a:t>Não houve benchmark entre os quatro modelos candidatos; a comparação experimental varia hiperparâmetros do Qwen selecionado.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</a:t>
            </a:r>
          </a:p>
          <a:p xmlns:a="http://schemas.openxmlformats.org/drawingml/2006/main">
            <a:r>
              <a:t>Fonte: reports/training-lora-r16-lr2e4.json</a:t>
            </a:r>
          </a:p>
          <a:p xmlns:a="http://schemas.openxmlformats.org/drawingml/2006/main">
            <a:r>
              <a:t>Fonte: https://huggingface.co/Qwen/Qwen2.5-1.5B-Instruct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São 240 requisitos sintéticos nas três partições principais. O desafio tem 12 requisitos escritos separadamente.</a:t>
            </a:r>
          </a:p>
          <a:p xmlns:a="http://schemas.openxmlformats.org/drawingml/2006/main">
            <a:r>
              <a:t>A separação impede repetir exatamente o mesmo requisito entre treino, validação e teste, mas os moldes sintéticos continuam semelhantes.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</a:t>
            </a:r>
          </a:p>
          <a:p xmlns:a="http://schemas.openxmlformats.org/drawingml/2006/main">
            <a:r>
              <a:t>Fonte: data/train.jsonl</a:t>
            </a:r>
          </a:p>
          <a:p xmlns:a="http://schemas.openxmlformats.org/drawingml/2006/main">
            <a:r>
              <a:t>Fonte: data/validation.jsonl</a:t>
            </a:r>
          </a:p>
          <a:p xmlns:a="http://schemas.openxmlformats.org/drawingml/2006/main">
            <a:r>
              <a:t>Fonte: data/test.jsonl</a:t>
            </a:r>
          </a:p>
          <a:p xmlns:a="http://schemas.openxmlformats.org/drawingml/2006/main">
            <a:r>
              <a:t>Fonte: data/challenge.jsonl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três execuções usaram batch size 1, acumulação de gradiente 4 e comprimento máximo 768.</a:t>
            </a:r>
          </a:p>
          <a:p xmlns:a="http://schemas.openxmlformats.org/drawingml/2006/main">
            <a:r>
              <a:t>O modelo escolhido teve 96 passos do otimizador e levou aproximadamente 113 segundos para treinar.</a:t>
            </a:r>
          </a:p>
          <a:p xmlns:a="http://schemas.openxmlformats.org/drawingml/2006/main">
            <a:r>
              <a:t>A seleção não usou o conjunto de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reports/training-lora-r8-lr2e4.json</a:t>
            </a:r>
          </a:p>
          <a:p xmlns:a="http://schemas.openxmlformats.org/drawingml/2006/main">
            <a:r>
              <a:t>Fonte: reports/training-lora-r16-lr1e4.json</a:t>
            </a:r>
          </a:p>
          <a:p xmlns:a="http://schemas.openxmlformats.org/drawingml/2006/main">
            <a:r>
              <a:t>Fonte: reports/training-lora-r16-lr2e4.json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métrica conta JSON válido, três casos e esquema completo. O gráfico mostra somente esquema completo.</a:t>
            </a:r>
          </a:p>
          <a:p xmlns:a="http://schemas.openxmlformats.org/drawingml/2006/main">
            <a:r>
              <a:t>No teste: original 0/24, adaptador 24/24. No desafio: original 1/12, adaptador 12/12.</a:t>
            </a:r>
          </a:p>
          <a:p xmlns:a="http://schemas.openxmlformats.org/drawingml/2006/main">
            <a:r>
              <a:t>Todas as avaliações foram executadas na GPU.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reports/baseline.json</a:t>
            </a:r>
          </a:p>
          <a:p xmlns:a="http://schemas.openxmlformats.org/drawingml/2006/main">
            <a:r>
              <a:t>Fonte: reports/lora-r16-lr2e4.json</a:t>
            </a:r>
          </a:p>
          <a:p xmlns:a="http://schemas.openxmlformats.org/drawingml/2006/main">
            <a:r>
              <a:t>Fonte: reports/challenge-baseline.json</a:t>
            </a:r>
          </a:p>
          <a:p xmlns:a="http://schemas.openxmlformats.org/drawingml/2006/main">
            <a:r>
              <a:t>Fonte: reports/challenge-best.json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revisão das 48 respostas do teste foi feita pelo assistente e não é uma avaliação cega do grupo.</a:t>
            </a:r>
          </a:p>
          <a:p xmlns:a="http://schemas.openxmlformats.org/drawingml/2006/main">
            <a:r>
              <a:t>As respostas do teste LoRA seguem os moldes sintéticos e têm oito casos com entradas descritivas, por isso a clareza não atingiu a pontuação máxima.</a:t>
            </a:r>
          </a:p>
          <a:p xmlns:a="http://schemas.openxmlformats.org/drawingml/2006/main">
            <a:r>
              <a:t>No desafio, o julgamento foi 7 corretas, 1 parcial e 4 incorretas.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reports/revisao-assistente.md</a:t>
            </a:r>
          </a:p>
          <a:p xmlns:a="http://schemas.openxmlformats.org/drawingml/2006/main">
            <a:r>
              <a:t>Fonte: reports/audit-challenge.md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imagem é uma captura real do VS Code com o relatório produzido por src/gpu_check.py.</a:t>
            </a:r>
          </a:p>
          <a:p xmlns:a="http://schemas.openxmlformats.org/drawingml/2006/main">
            <a:r>
              <a:t>O script verificou que a multiplicação de matrizes foi executada na GPU e produziu valores finitos.</a:t>
            </a:r>
          </a:p>
          <a:p xmlns:a="http://schemas.openxmlformats.org/drawingml/2006/main">
            <a:r>
              <a:t>Para capturar especificamente o terminal integrado, a pessoa que apresentar pode executar nele o comando descrito no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screenshots/gpu-vscode.jpg</a:t>
            </a:r>
          </a:p>
          <a:p xmlns:a="http://schemas.openxmlformats.org/drawingml/2006/main">
            <a:r>
              <a:t>Fonte: reports/gpu_check.json</a:t>
            </a:r>
          </a:p>
          <a:p xmlns:a="http://schemas.openxmlformats.org/drawingml/2006/main">
            <a:r>
              <a:t>Fonte: src/gpu_check.py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frontend foi implementado com Gradio. O usuário pode variar o texto do requisito e o limite de tokens.</a:t>
            </a:r>
          </a:p>
          <a:p xmlns:a="http://schemas.openxmlformats.org/drawingml/2006/main">
            <a:r>
              <a:t>Para uma demonstração, abrir a interface local e testar uma regra dentro do domínio coberto.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src/app.py</a:t>
            </a:r>
          </a:p>
          <a:p xmlns:a="http://schemas.openxmlformats.org/drawingml/2006/main">
            <a:r>
              <a:t>Fonte: docs/REPRODUCAO.md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principal conclusão é que o ajuste fino melhorou fortemente a estrutura JSON nesta tarefa.</a:t>
            </a:r>
          </a:p>
          <a:p xmlns:a="http://schemas.openxmlformats.org/drawingml/2006/main">
            <a:r>
              <a:t>O desafio reformulado mostrou erros semânticos; revisar as saídas antes de usá-las em testes reais.</a:t>
            </a:r>
          </a:p>
          <a:p xmlns:a="http://schemas.openxmlformats.org/drawingml/2006/main">
            <a:r>
              <a:t>O repositório privado contém a documentação e o código; os pesos do modelo base são baixados da fonte oficial.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README.md</a:t>
            </a:r>
          </a:p>
          <a:p xmlns:a="http://schemas.openxmlformats.org/drawingml/2006/main">
            <a:r>
              <a:t>Fonte: docs/REPRODUCAO.md</a:t>
            </a:r>
          </a:p>
          <a:p xmlns:a="http://schemas.openxmlformats.org/drawingml/2006/main">
            <a:r>
              <a:t>Fonte: reports/audit-challenge.md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eaec674d240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73e41f0374c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14962d19c49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92e8e8a1143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012fd3d9043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dbd7b43444d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01F8D-0BEE-4876-9842-31AD0FB3B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5A6DD9-4104-406A-922D-5CE15E906D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E68DAA-E77C-4196-84DD-5F098DA6F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E88D3-93BB-4ECD-A033-C9CE701E1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DDA05E-AE9E-4473-AA48-56879EB9E7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B92034-32F0-4831-91D1-FF0BA1430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162848-D4EC-41BB-B156-2CF67864C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A85136-5006-43AE-9EE1-D3845B6BF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3F4F77-65AC-4AD1-A3D0-D57165647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C8D648-8D8A-4AD7-B3DF-155043EED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b4f143a5a46e2" /><Relationship Type="http://schemas.openxmlformats.org/officeDocument/2006/relationships/slideLayout" Target="/ppt/slideLayouts/slideLayout1.xml" Id="Rabe5ba1ee46c4c94" /><Relationship Type="http://schemas.openxmlformats.org/officeDocument/2006/relationships/slideLayout" Target="/ppt/slideLayouts/slideLayout2.xml" Id="Re8e173a11e4d405e" /><Relationship Type="http://schemas.openxmlformats.org/officeDocument/2006/relationships/slideLayout" Target="/ppt/slideLayouts/slideLayout3.xml" Id="R4999f1fea8054acd" /><Relationship Type="http://schemas.openxmlformats.org/officeDocument/2006/relationships/slideLayout" Target="/ppt/slideLayouts/slideLayout4.xml" Id="R9d3ed37126814671" /><Relationship Type="http://schemas.openxmlformats.org/officeDocument/2006/relationships/slideLayout" Target="/ppt/slideLayouts/slideLayout5.xml" Id="R8569072408e64042" /><Relationship Type="http://schemas.openxmlformats.org/officeDocument/2006/relationships/slideLayout" Target="/ppt/slideLayouts/slideLayout6.xml" Id="Rd247eff1570349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e5ba1ee46c4c94"/>
    <p:sldLayoutId xmlns:r="http://schemas.openxmlformats.org/officeDocument/2006/relationships" id="2147483650" r:id="Re8e173a11e4d405e"/>
    <p:sldLayoutId xmlns:r="http://schemas.openxmlformats.org/officeDocument/2006/relationships" id="2147483651" r:id="R4999f1fea8054acd"/>
    <p:sldLayoutId xmlns:r="http://schemas.openxmlformats.org/officeDocument/2006/relationships" id="2147483652" r:id="R9d3ed37126814671"/>
    <p:sldLayoutId xmlns:r="http://schemas.openxmlformats.org/officeDocument/2006/relationships" id="2147483653" r:id="R8569072408e64042"/>
    <p:sldLayoutId xmlns:r="http://schemas.openxmlformats.org/officeDocument/2006/relationships" id="2147483654" r:id="Rd247eff15703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b1724b2c8412b" /><Relationship Type="http://schemas.openxmlformats.org/officeDocument/2006/relationships/notesSlide" Target="/ppt/notesSlides/notesSlide1.xml" Id="R619765dfe434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d5c7f62804119" /><Relationship Type="http://schemas.openxmlformats.org/officeDocument/2006/relationships/notesSlide" Target="/ppt/notesSlides/notesSlide2.xml" Id="R56fa18ea328e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ac2b9fdc24ccc" /><Relationship Type="http://schemas.openxmlformats.org/officeDocument/2006/relationships/notesSlide" Target="/ppt/notesSlides/notesSlide3.xml" Id="Rf289c9a213324f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8e4f520134378" /><Relationship Type="http://schemas.openxmlformats.org/officeDocument/2006/relationships/notesSlide" Target="/ppt/notesSlides/notesSlide4.xml" Id="R51b2bb4f6072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b50f324b14661" /><Relationship Type="http://schemas.openxmlformats.org/officeDocument/2006/relationships/notesSlide" Target="/ppt/notesSlides/notesSlide5.xml" Id="R2003d0c8296e44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c28ace1044507" /><Relationship Type="http://schemas.openxmlformats.org/officeDocument/2006/relationships/chart" Target="/ppt/slides/charts/chart1.xml" Id="R18b4e192da7b45a0" /><Relationship Type="http://schemas.openxmlformats.org/officeDocument/2006/relationships/notesSlide" Target="/ppt/notesSlides/notesSlide6.xml" Id="Rae0632d7e8b6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586b178d149af" /><Relationship Type="http://schemas.openxmlformats.org/officeDocument/2006/relationships/notesSlide" Target="/ppt/notesSlides/notesSlide7.xml" Id="R49ad809e8d7c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28085765c4c0a" /><Relationship Type="http://schemas.openxmlformats.org/officeDocument/2006/relationships/image" Target="/ppt/media/image.jpeg" Id="Rdbd9c00206354cd2" /><Relationship Type="http://schemas.openxmlformats.org/officeDocument/2006/relationships/notesSlide" Target="/ppt/notesSlides/notesSlide8.xml" Id="Rb50b4afe259a48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4401807644dd6" /><Relationship Type="http://schemas.openxmlformats.org/officeDocument/2006/relationships/notesSlide" Target="/ppt/notesSlides/notesSlide9.xml" Id="Rd3efd8f366ce42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8d810a68a49c9" /><Relationship Type="http://schemas.openxmlformats.org/officeDocument/2006/relationships/notesSlide" Target="/ppt/notesSlides/notesSlide10.xml" Id="R5e41864d8c124a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Modelo original</c:v>
          </c:tx>
          <c:spPr>
            <a:solidFill xmlns:a="http://schemas.openxmlformats.org/drawingml/2006/main">
              <a:srgbClr val="B75D3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Teste · 24</c:v>
                </c:pt>
                <c:pt idx="1">
                  <c:v>Desafio · 12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v>LoRA escolhido</c:v>
          </c:tx>
          <c:spPr>
            <a:solidFill xmlns:a="http://schemas.openxmlformats.org/drawingml/2006/main">
              <a:srgbClr val="007E87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Teste · 24</c:v>
                </c:pt>
                <c:pt idx="1">
                  <c:v>Desafio · 12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24</c:v>
                </c:pt>
                <c:pt idx="1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D7F8F-D0A3-4F67-B986-44CD6BA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Gerador local de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 de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762B-2302-48D3-9BC7-084FD8BC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938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BFE2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FE2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2DB"/>
                </a:solidFill>
                <a:latin typeface="Arial"/>
                <a:ea typeface="Arial"/>
                <a:cs typeface="Arial"/>
              </a:rPr>
              <a:t>Ajuste fino de uma LLM para requisitos de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1D66E-0D21-4686-82D7-7E1C7C1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Generative AI for Engineering ·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902650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63940-3491-4AFC-B32D-C5CB3CD1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Problema e saída esperada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E1C06-60FF-4BDC-97D1-964340A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Um requisito de validação vira três cenários verificáveis em JSON.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CBCD-9D61-49E9-B612-BA06B88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578D7-582F-4FCE-A1AB-7DFC66B5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667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“O campo idade aceita inteiros de 2 a 7, incluindo os limites.”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9EC3A-D85D-436C-AB72-F83EDFCA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Resposta desejada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9A999-EA5F-438A-A92B-2A05D72F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5334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2: aceito</a:t>
            </a:r>
          </a:p>
          <a:p xmlns:a="http://schemas.openxmlformats.org/drawingml/2006/main">
            <a:pPr algn="l">
              <a:defRPr sz="21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1: rejeitado, abaixo do mínimo</a:t>
            </a:r>
          </a:p>
          <a:p xmlns:a="http://schemas.openxmlformats.org/drawingml/2006/main">
            <a:pPr algn="l">
              <a:defRPr sz="21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8: rejeitado, acima do máximo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C5A1C-774E-4D82-8868-3C9B5CA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673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Cada caso contém título, entrada e resultado esperado.</a:t>
            </a:r>
          </a:p>
        </p:txBody>
      </p:sp>
    </p:spTree>
    <p:extLst>
      <p:ext uri="{BB962C8B-B14F-4D97-AF65-F5344CB8AC3E}">
        <p14:creationId xmlns:p14="http://schemas.microsoft.com/office/powerpoint/2010/main" val="184194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D77CA-B2C6-403C-BEFF-2FE7D3FE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Modelo e computador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89B36-B978-424F-9773-0082B53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Qwen2.5-1.5B-Instruct com LoRA nas projeções q_proj e v_proj.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D795F-4E03-4511-A7F7-30D18CE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6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1,54 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4F331-6F91-4F42-BD7C-83312A5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19425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parâmetros no modelo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694C-9D37-46FE-8AB9-FD20578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650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B75D37"/>
                </a:solidFill>
                <a:latin typeface="Arial"/>
                <a:ea typeface="Arial"/>
                <a:cs typeface="Arial"/>
              </a:rPr>
              <a:t>2,18 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B989B-BFC9-4C82-BE57-FDD4495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194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parâmetros treináveis no LoRA escolhido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76359-797E-4957-9C70-038BCBB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243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GPU  AMD Radeon RX 9070 XT · 16 GB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E3F6A-3525-40A6-9A5B-D0B97C6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863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Windows 11 · Python 3.13 · PyTorch 2.12.0 + ROCm 7.14.1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05BF4-8D33-4CFB-A9B3-B236FBC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340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0,5B foi alternativa mais leve; 3B e Llama 3.2 3B exigiriam mais recursos ou outras condições de licença.</a:t>
            </a:r>
          </a:p>
        </p:txBody>
      </p:sp>
    </p:spTree>
    <p:extLst>
      <p:ext uri="{BB962C8B-B14F-4D97-AF65-F5344CB8AC3E}">
        <p14:creationId xmlns:p14="http://schemas.microsoft.com/office/powerpoint/2010/main" val="759519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9CAD6-4F66-4457-AECA-524C56A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Dados e divisão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AEE28-4DFD-43C2-97FD-7E66031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Requisitos sintéticos de seis tipos de regra, com separação por requisito.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93DD7-DAB2-44B3-B647-D4E77C4E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14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AB326-CF0B-41B7-948A-C90947B5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143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treino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C2547-FBD5-4DDF-B103-425EEA6D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14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B75D3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46DB8-477B-4A46-BA84-5183BF2D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143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D98FF-DFBD-484E-8A70-F0374412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F62E2-913E-4D94-B39C-F2A3E650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242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teste não visto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814EC-8225-42EC-81ED-0716277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2612C-D98C-4AA3-9315-063EE10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242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desafio reformulado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7D777-4419-4D76-AA02-945A883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Tipos: obrigatório, comprimento, faixa inteira, email, opções permitidas e ordem de datas.</a:t>
            </a:r>
          </a:p>
        </p:txBody>
      </p:sp>
    </p:spTree>
    <p:extLst>
      <p:ext uri="{BB962C8B-B14F-4D97-AF65-F5344CB8AC3E}">
        <p14:creationId xmlns:p14="http://schemas.microsoft.com/office/powerpoint/2010/main" val="1660692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15801-0983-42E0-BE03-91439A65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Três configurações de 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44F98-7C99-4229-816F-4064966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Duas taxas de aprendizado e dois ranks, sempre por duas épocas.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1218D-4696-4953-840A-742251DC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829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E1FA3-B5EC-40C7-B9A8-48AD6E2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Perda de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6F2E2-8DEF-4A4B-AF02-B1E00CA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Formato no teste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2AC22-8A8E-4D8A-8220-96198EE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rank 8 · LR 0,0002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260AC-8A24-4C19-B609-56F949A0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0,01544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6D731-C873-43E9-9DE9-E75D7622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9603A-E4DE-4F0B-9868-6358F708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rank 16 · LR 0,0001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586D4-CF33-4B42-ABFA-320496E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0,01879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936D5-7BDF-43CD-AAC1-F27A0B1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97B4C-A992-4AAE-9480-710C8F3D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rank 16 · LR 0,0002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86D55-5BFC-4EAE-98A3-02F5D97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0,00930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5CCF5-1AA4-43DF-AED4-DEB03C4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4E2A7-C4BD-4421-8549-FE59C3ED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Selecionamos rank 16 e LR 0,0002 pela menor perda de validação.</a:t>
            </a:r>
          </a:p>
        </p:txBody>
      </p:sp>
    </p:spTree>
    <p:extLst>
      <p:ext uri="{BB962C8B-B14F-4D97-AF65-F5344CB8AC3E}">
        <p14:creationId xmlns:p14="http://schemas.microsoft.com/office/powerpoint/2010/main" val="179026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DD9A3-6464-4B4D-ACDF-D441E38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Formato JSON melhorou no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EDB64-47D1-4B7B-9C48-6E28641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Esquema completo mede a estrutura, não a correção dos resultados esperados.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46C7621-59CC-4794-BC71-47793BF48AF1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7762875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b4e192da7b45a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50A1F-2B6B-4BF2-BFF9-F2EFCFF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3362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2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E9145-401C-46C0-B9BA-2687C23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14675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no teste após LoRA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4C17E-C1F7-43AA-9B92-767FCD0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43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2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1990-528E-4457-956B-3E1F91F8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149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no desafio reformulado</a:t>
            </a:r>
          </a:p>
        </p:txBody>
      </p:sp>
    </p:spTree>
    <p:extLst>
      <p:ext uri="{BB962C8B-B14F-4D97-AF65-F5344CB8AC3E}">
        <p14:creationId xmlns:p14="http://schemas.microsoft.com/office/powerpoint/2010/main" val="885212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CA6CB-B2E8-47F1-BB5F-04CD122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O formato não garante acerto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CC369-6BB7-478C-AE40-78D69626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A auditoria do desafio encontrou erros em regras de faixa, email e datas.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31F66-86FA-4E2F-A0E6-F6534C0A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8E902-8DB4-4673-93FB-DE02AEA5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respostas corretas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6E486-0D3E-4A0C-A695-BF0033B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B75D3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19F9-9C69-4601-B7F6-FAF9AEDA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resposta parcial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10D7-5EB1-40C2-9A1F-E5960BD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33625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B75D3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B75D3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FABC9-E96B-4EC7-9A34-16DF296A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9087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B"/>
                </a:solidFill>
                <a:latin typeface="Arial"/>
                <a:ea typeface="Arial"/>
                <a:cs typeface="Arial"/>
              </a:rPr>
              <a:t>respostas incorretas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C8EA7-111E-4EEA-890A-87A6D99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863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Exemplo: uma entrada com valor 1 foi rejeitada apesar de a faixa começar em 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E70D9-E768-4C3D-8479-A0CEA45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24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Revisão inicial do teste: 136/144 pontos para LoRA e 67/144 para o original.</a:t>
            </a:r>
          </a:p>
        </p:txBody>
      </p:sp>
    </p:spTree>
    <p:extLst>
      <p:ext uri="{BB962C8B-B14F-4D97-AF65-F5344CB8AC3E}">
        <p14:creationId xmlns:p14="http://schemas.microsoft.com/office/powerpoint/2010/main" val="1903553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2F28-645B-451D-880A-3A4480DB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GPU comprovada no VS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524B0-D20D-40DF-BC7F-6D96837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Relatório gerado após uma multiplicação de matrizes no dispositivo.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EA57F-8BC5-4A70-B022-412143720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9c00206354cd2"/>
          <a:srcRect xmlns:a="http://schemas.openxmlformats.org/drawingml/2006/main" l="0" t="0" r="0" b="38000"/>
          <a:stretch xmlns:a="http://schemas.openxmlformats.org/drawingml/2006/main"/>
        </p:blipFill>
        <p:spPr>
          <a:xfrm xmlns:a="http://schemas.openxmlformats.org/drawingml/2006/main">
            <a:off x="704850" y="1971675"/>
            <a:ext cx="107632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74427-BECA-43D5-B411-62F913FD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RX 9070 XT · PyTorch 2.12 + ROCm 7.14.1 · execução na GPU: true</a:t>
            </a:r>
          </a:p>
        </p:txBody>
      </p:sp>
    </p:spTree>
    <p:extLst>
      <p:ext uri="{BB962C8B-B14F-4D97-AF65-F5344CB8AC3E}">
        <p14:creationId xmlns:p14="http://schemas.microsoft.com/office/powerpoint/2010/main" val="258500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E63C0-D56A-4F12-A084-0D8424A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Interface local para testar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2EF4-4454-4C17-9F0B-54BED2AD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O usuário escreve a regra, gera a resposta e recebe três casos em JSON.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5609-7E59-4326-ACE1-EFA20437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193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49E63-CCE3-4366-A37B-EBD5ED3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43200"/>
            <a:ext cx="4381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“O campo idade aceita inteiros de 18 a 65.”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80EED-CB17-4AAD-BADD-206A7BE4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932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D5690-7BA2-4232-8A9C-E577ECC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43200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Três casos com entrada e resultado esperado, exibidos no navegador.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AAC9-69C9-4992-A9C3-BAC41DD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149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Execução local: python src/app.py · http://127.0.0.1:7860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FC82E-1606-4F2E-BC68-12D59E8F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57"/>
                </a:solidFill>
                <a:latin typeface="Arial"/>
                <a:ea typeface="Arial"/>
                <a:cs typeface="Arial"/>
              </a:rPr>
              <a:t>A interface exige GPU e usa o adaptador selecionado.</a:t>
            </a:r>
          </a:p>
        </p:txBody>
      </p:sp>
    </p:spTree>
    <p:extLst>
      <p:ext uri="{BB962C8B-B14F-4D97-AF65-F5344CB8AC3E}">
        <p14:creationId xmlns:p14="http://schemas.microsoft.com/office/powerpoint/2010/main" val="880729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68F8-A38F-4465-8D97-1742913D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Conclusão e reprodução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38D88-9333-4ACC-A4FF-D310711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2"/>
                </a:solidFill>
                <a:latin typeface="Arial"/>
                <a:ea typeface="Arial"/>
                <a:cs typeface="Arial"/>
              </a:rPr>
              <a:t>O projeto comprova ajuste fino local; casos gerados ainda precisam de revisão.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06DFD-0634-4E55-BACF-43A5BFCB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O que foi entregue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FB1C0-A534-4FEA-81B8-E6E48EE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Código, dados, três treinos, avaliações, pesos LoRA, interface e prova da GPU.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34653-630A-4349-86BE-8176E300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Para reproduzir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A6092-AF6E-4207-A09D-49D5AB75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33675"/>
            <a:ext cx="4905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8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83B"/>
                </a:solidFill>
                <a:latin typeface="Arial"/>
                <a:ea typeface="Arial"/>
                <a:cs typeface="Arial"/>
              </a:rPr>
              <a:t>Siga docs/REPRODUCAO.md. O modelo base é baixado do Hugging Face na primeira execução.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5441B-150E-4DCB-B797-D9D27FF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57"/>
                </a:solidFill>
                <a:latin typeface="Arial"/>
                <a:ea typeface="Arial"/>
                <a:cs typeface="Arial"/>
              </a:rPr>
              <a:t>github.com/joaorihan/llm-test-case-generator</a:t>
            </a:r>
          </a:p>
        </p:txBody>
      </p:sp>
    </p:spTree>
    <p:extLst>
      <p:ext uri="{BB962C8B-B14F-4D97-AF65-F5344CB8AC3E}">
        <p14:creationId xmlns:p14="http://schemas.microsoft.com/office/powerpoint/2010/main" val="83189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2026-10-16T00:18:24.9490000Z</dcterms:created>
  <dcterms:modified xsi:type="dcterms:W3CDTF">2026-10-16T00:18:24.9490000Z</dcterms:modified>
</coreProperties>
</file>